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6C17900-D13B-4B4B-9CD6-CB2D42D843C5}">
          <p14:sldIdLst>
            <p14:sldId id="256"/>
            <p14:sldId id="266"/>
            <p14:sldId id="257"/>
          </p14:sldIdLst>
        </p14:section>
        <p14:section name="Untitled Section" id="{09FF57E4-D8B1-4DAE-9D49-C275A8E17369}">
          <p14:sldIdLst>
            <p14:sldId id="258"/>
            <p14:sldId id="259"/>
            <p14:sldId id="260"/>
            <p14:sldId id="261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16EA9-CAA2-41F6-AE3F-26D70C7E755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A9B3D-600B-4C4D-80C9-60AB43FABB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770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A9B3D-600B-4C4D-80C9-60AB43FABBA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63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E4D3ADA-9845-A6DC-67C0-82CBD108E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182" y="-150125"/>
            <a:ext cx="9253182" cy="70081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58975"/>
            <a:ext cx="7772400" cy="1470025"/>
          </a:xfrm>
        </p:spPr>
        <p:txBody>
          <a:bodyPr/>
          <a:lstStyle/>
          <a:p>
            <a:r>
              <a:rPr b="1" u="sng" dirty="0">
                <a:latin typeface="Aptos Display" panose="020B0004020202020204" pitchFamily="34" charset="0"/>
              </a:rPr>
              <a:t>Profit Analysis </a:t>
            </a:r>
            <a:r>
              <a:rPr lang="en-US" b="1" u="sng" dirty="0">
                <a:latin typeface="Aptos Display" panose="020B0004020202020204" pitchFamily="34" charset="0"/>
              </a:rPr>
              <a:t>-</a:t>
            </a:r>
            <a:r>
              <a:rPr b="1" u="sng" dirty="0">
                <a:latin typeface="Aptos Display" panose="020B0004020202020204" pitchFamily="34" charset="0"/>
              </a:rPr>
              <a:t>Regression &amp; Visualizations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58000" cy="1470025"/>
          </a:xfrm>
        </p:spPr>
        <p:txBody>
          <a:bodyPr>
            <a:normAutofit fontScale="70000" lnSpcReduction="20000"/>
          </a:bodyPr>
          <a:lstStyle/>
          <a:p>
            <a:r>
              <a:rPr lang="en-IN" i="1" dirty="0">
                <a:solidFill>
                  <a:schemeClr val="tx1"/>
                </a:solidFill>
                <a:latin typeface="Aptos Display" panose="020B0004020202020204" pitchFamily="34" charset="0"/>
              </a:rPr>
              <a:t>Project ID: PTID-CBA-OCT-25-07  </a:t>
            </a:r>
          </a:p>
          <a:p>
            <a:r>
              <a:rPr lang="en-IN" i="1" dirty="0">
                <a:solidFill>
                  <a:schemeClr val="tx1"/>
                </a:solidFill>
                <a:latin typeface="Aptos Display" panose="020B0004020202020204" pitchFamily="34" charset="0"/>
              </a:rPr>
              <a:t>Project Code: PRBA-01 </a:t>
            </a:r>
          </a:p>
          <a:p>
            <a:endParaRPr lang="en-IN" i="1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r>
              <a:rPr lang="en-IN" i="1" dirty="0">
                <a:solidFill>
                  <a:schemeClr val="tx1"/>
                </a:solidFill>
                <a:latin typeface="Aptos Display" panose="020B0004020202020204" pitchFamily="34" charset="0"/>
              </a:rPr>
              <a:t>VISHNU 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CD9E5-EAC8-EEE7-0187-CB77CAFD1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643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POWER BI INSIGHTS</a:t>
            </a:r>
            <a:endParaRPr lang="en-IN" sz="3200" b="1" dirty="0">
              <a:latin typeface="Aptos Display" panose="020B00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3A2F9F-666C-7B19-A419-2BCB43EAC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814" y="1171074"/>
            <a:ext cx="8904371" cy="5412288"/>
          </a:xfrm>
        </p:spPr>
      </p:pic>
    </p:spTree>
    <p:extLst>
      <p:ext uri="{BB962C8B-B14F-4D97-AF65-F5344CB8AC3E}">
        <p14:creationId xmlns:p14="http://schemas.microsoft.com/office/powerpoint/2010/main" val="12742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Aptos Display" panose="020B0004020202020204" pitchFamily="34" charset="0"/>
              </a:rPr>
              <a:t>Regression Results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3D4F6A-BC89-1A77-FAA8-835E8C48A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78121"/>
              </p:ext>
            </p:extLst>
          </p:nvPr>
        </p:nvGraphicFramePr>
        <p:xfrm>
          <a:off x="1524000" y="1397000"/>
          <a:ext cx="6096000" cy="3749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833496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19136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221050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Variables </a:t>
                      </a:r>
                      <a:endParaRPr lang="en-IN" sz="240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Coefficient  </a:t>
                      </a:r>
                      <a:endParaRPr lang="en-IN" sz="240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Aptos Display" panose="020B0004020202020204" pitchFamily="34" charset="0"/>
                        </a:rPr>
                        <a:t>Result </a:t>
                      </a:r>
                      <a:endParaRPr lang="en-IN" sz="2400" dirty="0">
                        <a:solidFill>
                          <a:schemeClr val="bg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0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Base Profit 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50122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Expected profit 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7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R&amp;D_spend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0.80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Strong positive impact 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92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Administration spend 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-0.02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Negative impact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47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Marketing spend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0.02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Small positive impact </a:t>
                      </a:r>
                      <a:endParaRPr lang="en-IN" sz="24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96409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BD05116-D719-244D-D2BC-1D80ED26B526}"/>
              </a:ext>
            </a:extLst>
          </p:cNvPr>
          <p:cNvSpPr txBox="1"/>
          <p:nvPr/>
        </p:nvSpPr>
        <p:spPr>
          <a:xfrm>
            <a:off x="569495" y="5437405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Aptos Display" panose="020B0004020202020204" pitchFamily="34" charset="0"/>
              </a:rPr>
              <a:t>R&amp;D drives profit the most, Marketing contributes moderately, and Administration cost should be controlled.</a:t>
            </a:r>
            <a:endParaRPr lang="en-IN" sz="24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526" y="226372"/>
            <a:ext cx="7772400" cy="68103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r&amp;D </a:t>
            </a:r>
            <a:r>
              <a:rPr lang="en-US" sz="3600" dirty="0"/>
              <a:t>profit</a:t>
            </a:r>
            <a:r>
              <a:rPr lang="en-US" dirty="0"/>
              <a:t> </a:t>
            </a:r>
          </a:p>
        </p:txBody>
      </p:sp>
      <p:pic>
        <p:nvPicPr>
          <p:cNvPr id="3" name="Picture 2" descr="rd_vs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49" y="1135828"/>
            <a:ext cx="4721902" cy="35419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C353759-578D-5C54-4496-6E49323FA3D3}"/>
              </a:ext>
            </a:extLst>
          </p:cNvPr>
          <p:cNvSpPr txBox="1"/>
          <p:nvPr/>
        </p:nvSpPr>
        <p:spPr>
          <a:xfrm>
            <a:off x="666100" y="4906225"/>
            <a:ext cx="78848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Aptos Display" panose="020B0004020202020204" pitchFamily="34" charset="0"/>
              </a:rPr>
              <a:t>Since R&amp;D Spend has the strongest positive influence on Profit, the company should increase investments in research and development.</a:t>
            </a:r>
          </a:p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Aptos Display" panose="020B0004020202020204" pitchFamily="34" charset="0"/>
              </a:rPr>
              <a:t>This will help improve product quality, innovation, and long-term profitability.</a:t>
            </a: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751" y="0"/>
            <a:ext cx="82296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Aptos Display" panose="020B0004020202020204" pitchFamily="34" charset="0"/>
              </a:rPr>
              <a:t>Profit from Marketing Expenditures </a:t>
            </a:r>
          </a:p>
        </p:txBody>
      </p:sp>
      <p:pic>
        <p:nvPicPr>
          <p:cNvPr id="3" name="Picture 2" descr="marketing_vs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483" y="1120249"/>
            <a:ext cx="4593034" cy="33339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CBE5CE-596F-AF01-7B7D-2791A55A82A6}"/>
              </a:ext>
            </a:extLst>
          </p:cNvPr>
          <p:cNvSpPr txBox="1"/>
          <p:nvPr/>
        </p:nvSpPr>
        <p:spPr>
          <a:xfrm>
            <a:off x="940138" y="4897771"/>
            <a:ext cx="78848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en-IN" sz="2000" dirty="0"/>
              <a:t>Marketing Spend shows a moderate positive impact, meaning campaigns work but are not fully efficient.</a:t>
            </a:r>
          </a:p>
          <a:p>
            <a:pPr marL="342900" lvl="0" indent="-342900" algn="just">
              <a:buFont typeface="Wingdings" panose="05000000000000000000" pitchFamily="2" charset="2"/>
              <a:buChar char="v"/>
            </a:pPr>
            <a:r>
              <a:rPr lang="en-IN" sz="2000" dirty="0"/>
              <a:t>Focus on data-driven targeting, digital marketing, and ROI-based budgeting to improve conversion.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766"/>
            <a:ext cx="8367764" cy="860626"/>
          </a:xfrm>
        </p:spPr>
        <p:txBody>
          <a:bodyPr>
            <a:normAutofit/>
          </a:bodyPr>
          <a:lstStyle/>
          <a:p>
            <a:r>
              <a:rPr sz="3200" b="1" dirty="0">
                <a:latin typeface="Aptos Display" panose="020B0004020202020204" pitchFamily="34" charset="0"/>
              </a:rPr>
              <a:t>Administration</a:t>
            </a:r>
            <a:r>
              <a:rPr lang="en-US" sz="3200" b="1" dirty="0">
                <a:latin typeface="Aptos Display" panose="020B0004020202020204" pitchFamily="34" charset="0"/>
              </a:rPr>
              <a:t> </a:t>
            </a:r>
            <a:r>
              <a:rPr sz="3200" b="1" dirty="0">
                <a:latin typeface="Aptos Display" panose="020B0004020202020204" pitchFamily="34" charset="0"/>
              </a:rPr>
              <a:t>Profit</a:t>
            </a:r>
          </a:p>
        </p:txBody>
      </p:sp>
      <p:pic>
        <p:nvPicPr>
          <p:cNvPr id="3" name="Picture 2" descr="admin_vs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147" y="967933"/>
            <a:ext cx="4578292" cy="33197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1A71EA-CD3B-0069-C418-B9E299AD8C95}"/>
              </a:ext>
            </a:extLst>
          </p:cNvPr>
          <p:cNvSpPr txBox="1"/>
          <p:nvPr/>
        </p:nvSpPr>
        <p:spPr>
          <a:xfrm>
            <a:off x="940138" y="4594169"/>
            <a:ext cx="78848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Aptos Display" panose="020B0004020202020204" pitchFamily="34" charset="0"/>
              </a:rPr>
              <a:t>Administration has a very weak effect on Profit, meaning higher admin expenses are not yielding returns.</a:t>
            </a:r>
          </a:p>
          <a:p>
            <a:pPr marL="285750" lvl="0" indent="-285750" algn="just">
              <a:buFont typeface="Wingdings" panose="05000000000000000000" pitchFamily="2" charset="2"/>
              <a:buChar char="v"/>
            </a:pPr>
            <a:r>
              <a:rPr lang="en-IN" sz="2000" dirty="0">
                <a:latin typeface="Aptos Display" panose="020B0004020202020204" pitchFamily="34" charset="0"/>
              </a:rPr>
              <a:t>Conduct cost-cutting reviews, automate routine tasks, and streamline internal processes to reduce waste.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3C14DE-D7D3-4F96-2F6B-13EC3BA3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536" y="31539"/>
            <a:ext cx="5448925" cy="61491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ptos Display" panose="020B0004020202020204" pitchFamily="34" charset="0"/>
              </a:rPr>
              <a:t>Estimated Profit state wise </a:t>
            </a:r>
            <a:endParaRPr lang="en-IN" sz="3200" b="1" dirty="0">
              <a:latin typeface="Aptos Display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E3BF5-CC10-7433-DFEA-8D62FBBF2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421" y="734518"/>
            <a:ext cx="5021706" cy="3242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0469EE-F2A8-EE73-59A5-CA591E9225E7}"/>
              </a:ext>
            </a:extLst>
          </p:cNvPr>
          <p:cNvSpPr txBox="1"/>
          <p:nvPr/>
        </p:nvSpPr>
        <p:spPr>
          <a:xfrm>
            <a:off x="685304" y="4153075"/>
            <a:ext cx="808394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Aptos Display" panose="020B0004020202020204" pitchFamily="34" charset="0"/>
              </a:rPr>
              <a:t>Florida and New York show the highest estimated profit levels, indicating stronger market performance and better revenue contribution compared to other regions.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Aptos Display" panose="020B0004020202020204" pitchFamily="34" charset="0"/>
              </a:rPr>
              <a:t>California’s profit is slightly lower, suggesting either higher operational costs or lower sales efficiency in that region.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Aptos Display" panose="020B0004020202020204" pitchFamily="34" charset="0"/>
              </a:rPr>
              <a:t>The difference in profit across states highlights the importance of regional strategy planning.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Aptos Display" panose="020B0004020202020204" pitchFamily="34" charset="0"/>
              </a:rPr>
              <a:t>Based on this trend, the company should prioritize expansion and promotional activities in Florida and New York, while reviewing performance drivers in California.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Aptos Display" panose="020B0004020202020204" pitchFamily="34" charset="0"/>
              </a:rPr>
              <a:t>Key insights</a:t>
            </a:r>
            <a:r>
              <a:rPr lang="en-IN" sz="3200" b="1" dirty="0">
                <a:latin typeface="Aptos Display" panose="020B0004020202020204" pitchFamily="34" charset="0"/>
              </a:rPr>
              <a:t> &amp; Recommendations</a:t>
            </a:r>
            <a:endParaRPr sz="3200" b="1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88841"/>
            <a:ext cx="8416977" cy="5130384"/>
          </a:xfrm>
        </p:spPr>
        <p:txBody>
          <a:bodyPr>
            <a:normAutofit/>
          </a:bodyPr>
          <a:lstStyle/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Aptos Display" panose="020B0004020202020204" pitchFamily="34" charset="0"/>
              </a:rPr>
              <a:t>Increase investment in R&amp;D Spend to maximize profit growth.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US" sz="2400" dirty="0">
                <a:latin typeface="Aptos Display" panose="020B0004020202020204" pitchFamily="34" charset="0"/>
              </a:rPr>
              <a:t>Optimize Marketing Spend to improve campaign performance.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Aptos Display" panose="020B0004020202020204" pitchFamily="34" charset="0"/>
              </a:rPr>
              <a:t>Reduce or streamline Administration costs as they contribute less to profit.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Aptos Display" panose="020B0004020202020204" pitchFamily="34" charset="0"/>
              </a:rPr>
              <a:t>Focus more on high-performing states like Florida and New York to boost revenue.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Aptos Display" panose="020B0004020202020204" pitchFamily="34" charset="0"/>
              </a:rPr>
              <a:t>Review strategy and cost structure in California to improve profit levels.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dirty="0">
                <a:latin typeface="Aptos Display" panose="020B0004020202020204" pitchFamily="34" charset="0"/>
              </a:rPr>
              <a:t>Continuously monitor spending vs profit impact to ensure efficient resource allocation.</a:t>
            </a:r>
          </a:p>
          <a:p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Copy of Gradient Minimalist Business Slides (1)</Template>
  <TotalTime>137</TotalTime>
  <Words>343</Words>
  <Application>Microsoft Office PowerPoint</Application>
  <PresentationFormat>On-screen Show (4:3)</PresentationFormat>
  <Paragraphs>45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 Display</vt:lpstr>
      <vt:lpstr>Arial</vt:lpstr>
      <vt:lpstr>Calibri</vt:lpstr>
      <vt:lpstr>Wingdings</vt:lpstr>
      <vt:lpstr>Office Theme</vt:lpstr>
      <vt:lpstr>Profit Analysis -Regression &amp; Visualizations</vt:lpstr>
      <vt:lpstr>POWER BI INSIGHTS</vt:lpstr>
      <vt:lpstr>Regression Results </vt:lpstr>
      <vt:lpstr>r&amp;D profit </vt:lpstr>
      <vt:lpstr>Profit from Marketing Expenditures </vt:lpstr>
      <vt:lpstr>Administration Profit</vt:lpstr>
      <vt:lpstr>Estimated Profit state wise </vt:lpstr>
      <vt:lpstr>Key insights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</dc:creator>
  <cp:keywords/>
  <dc:description>generated using python-pptx</dc:description>
  <cp:lastModifiedBy>VISHNU</cp:lastModifiedBy>
  <cp:revision>6</cp:revision>
  <dcterms:created xsi:type="dcterms:W3CDTF">2013-01-27T09:14:16Z</dcterms:created>
  <dcterms:modified xsi:type="dcterms:W3CDTF">2025-11-03T08:21:49Z</dcterms:modified>
  <cp:category/>
</cp:coreProperties>
</file>